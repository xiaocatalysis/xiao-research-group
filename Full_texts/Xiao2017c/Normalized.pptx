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80" r:id="rId3"/>
    <p:sldId id="511" r:id="rId4"/>
    <p:sldId id="504" r:id="rId5"/>
    <p:sldId id="505" r:id="rId6"/>
    <p:sldId id="506" r:id="rId7"/>
    <p:sldId id="507" r:id="rId8"/>
    <p:sldId id="508" r:id="rId9"/>
    <p:sldId id="509" r:id="rId10"/>
    <p:sldId id="510" r:id="rId11"/>
    <p:sldId id="51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3FD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9" autoAdjust="0"/>
    <p:restoredTop sz="79625" autoAdjust="0"/>
  </p:normalViewPr>
  <p:slideViewPr>
    <p:cSldViewPr>
      <p:cViewPr>
        <p:scale>
          <a:sx n="100" d="100"/>
          <a:sy n="100" d="100"/>
        </p:scale>
        <p:origin x="1080" y="-534"/>
      </p:cViewPr>
      <p:guideLst>
        <p:guide orient="horz" pos="218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3342" y="-120"/>
      </p:cViewPr>
      <p:guideLst>
        <p:guide orient="horz" pos="291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EF50F-CEB1-4102-B096-7A504EBF9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32954-5D39-4B62-96BE-4E4EBF4D1D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368A4-9DD5-4BC2-BA0B-B18E4FD83B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DBADE-11AD-41FA-B535-49FF411E47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  <p:pic>
        <p:nvPicPr>
          <p:cNvPr id="7" name="Picture 6" descr="CHE PowerPoint template v32212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36" descr="PU_signature_jpg_pri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6769" y="6147166"/>
            <a:ext cx="2117231" cy="71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 bwMode="auto">
          <a:xfrm flipV="1">
            <a:off x="0" y="6248400"/>
            <a:ext cx="7132320" cy="36576"/>
          </a:xfrm>
          <a:prstGeom prst="rect">
            <a:avLst/>
          </a:prstGeom>
          <a:gradFill>
            <a:gsLst>
              <a:gs pos="50000">
                <a:srgbClr val="FFC000"/>
              </a:gs>
              <a:gs pos="0">
                <a:srgbClr val="FFC000">
                  <a:alpha val="25000"/>
                </a:srgbClr>
              </a:gs>
              <a:gs pos="100000">
                <a:srgbClr val="FFC000">
                  <a:alpha val="25000"/>
                </a:srgbClr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42900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  <a:defRPr/>
            </a:lvl1pPr>
            <a:lvl2pPr marL="742950" indent="-36576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/>
            </a:lvl2pPr>
            <a:lvl3pPr marL="1143000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/>
            </a:lvl3pPr>
            <a:lvl4pPr marL="1600200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/>
            </a:lvl4pPr>
          </a:lstStyle>
          <a:p>
            <a:pPr marL="342900" lvl="0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42900" lvl="1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第二级</a:t>
            </a:r>
            <a:endParaRPr lang="zh-CN" altLang="en-US"/>
          </a:p>
          <a:p>
            <a:pPr marL="342900" lvl="2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第三级</a:t>
            </a:r>
            <a:endParaRPr lang="zh-CN" altLang="en-US"/>
          </a:p>
          <a:p>
            <a:pPr marL="342900" lvl="3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第四级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  <a:defRPr sz="2800"/>
            </a:lvl1pPr>
            <a:lvl2pPr marL="742950" indent="-36576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 sz="2400"/>
            </a:lvl2pPr>
            <a:lvl3pPr marL="1143000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 sz="2000"/>
            </a:lvl3pPr>
            <a:lvl4pPr marL="1600200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lvl="0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42900" lvl="1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第二级</a:t>
            </a:r>
            <a:endParaRPr lang="zh-CN" altLang="en-US"/>
          </a:p>
          <a:p>
            <a:pPr marL="342900" lvl="2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第三级</a:t>
            </a:r>
            <a:endParaRPr lang="zh-CN" altLang="en-US"/>
          </a:p>
          <a:p>
            <a:pPr marL="342900" lvl="3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第四级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  <a:defRPr sz="2800"/>
            </a:lvl1pPr>
            <a:lvl2pPr marL="742950" indent="-36576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 sz="2400"/>
            </a:lvl2pPr>
            <a:lvl3pPr marL="1143000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 sz="2000"/>
            </a:lvl3pPr>
            <a:lvl4pPr marL="1600200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lvl="0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42900" lvl="1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第二级</a:t>
            </a:r>
            <a:endParaRPr lang="zh-CN" altLang="en-US"/>
          </a:p>
          <a:p>
            <a:pPr marL="342900" lvl="2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第三级</a:t>
            </a:r>
            <a:endParaRPr lang="zh-CN" altLang="en-US"/>
          </a:p>
          <a:p>
            <a:pPr marL="342900" lvl="3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zh-CN" altLang="en-US"/>
              <a:t>第四级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D837-D59E-4352-B118-FDD2732FAAA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457200" algn="l" defTabSz="914400" rtl="0" eaLnBrk="1" latinLnBrk="0" hangingPunct="1">
              <a:spcBef>
                <a:spcPts val="600"/>
              </a:spcBef>
              <a:buSzPct val="80000"/>
              <a:buFont typeface="Wingdings" panose="05000000000000000000" charset="2"/>
              <a:buChar char="q"/>
            </a:pPr>
            <a:r>
              <a:rPr lang="en-US" dirty="0"/>
              <a:t>Click to edit Master text styles</a:t>
            </a:r>
            <a:endParaRPr lang="en-US" dirty="0"/>
          </a:p>
          <a:p>
            <a:pPr marL="742950" lvl="1" indent="-36576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</a:pPr>
            <a:r>
              <a:rPr lang="en-US" dirty="0"/>
              <a:t>Second level</a:t>
            </a:r>
            <a:endParaRPr lang="en-US" dirty="0"/>
          </a:p>
          <a:p>
            <a:pPr marL="1143000" lvl="2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</a:pPr>
            <a:r>
              <a:rPr lang="en-US" dirty="0"/>
              <a:t>Third level</a:t>
            </a:r>
            <a:endParaRPr lang="en-US" dirty="0"/>
          </a:p>
          <a:p>
            <a:pPr marL="1600200" lvl="3" indent="-274320" algn="l" defTabSz="914400" rtl="0" eaLnBrk="1" latinLnBrk="0" hangingPunct="1">
              <a:spcBef>
                <a:spcPts val="600"/>
              </a:spcBef>
              <a:buSzPct val="100000"/>
              <a:buFont typeface="Wingdings" panose="05000000000000000000" charset="2"/>
              <a:buChar char="§"/>
            </a:pPr>
            <a:r>
              <a:rPr lang="en-US" dirty="0"/>
              <a:t>Fourth level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6D1A9-C29A-4171-BA72-0844C2EDB1F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5D837-D59E-4352-B118-FDD2732FAAA2}" type="slidenum">
              <a:rPr lang="en-US" smtClean="0"/>
            </a:fld>
            <a:endParaRPr lang="en-US"/>
          </a:p>
        </p:txBody>
      </p:sp>
      <p:pic>
        <p:nvPicPr>
          <p:cNvPr id="11" name="Picture 36" descr="PU_signature_jpg_print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026769" y="6147166"/>
            <a:ext cx="2117231" cy="71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auto">
          <a:xfrm flipV="1">
            <a:off x="0" y="6248400"/>
            <a:ext cx="7132320" cy="36576"/>
          </a:xfrm>
          <a:prstGeom prst="rect">
            <a:avLst/>
          </a:prstGeom>
          <a:gradFill>
            <a:gsLst>
              <a:gs pos="50000">
                <a:srgbClr val="FFC000"/>
              </a:gs>
              <a:gs pos="0">
                <a:srgbClr val="FFC000">
                  <a:alpha val="25000"/>
                </a:srgbClr>
              </a:gs>
              <a:gs pos="100000">
                <a:srgbClr val="FFC000">
                  <a:alpha val="25000"/>
                </a:srgbClr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lang="en-US" sz="32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charset="0"/>
        <a:buChar char="–"/>
        <a:defRPr lang="en-US" sz="2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lang="en-US" sz="2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charset="0"/>
        <a:buChar char="–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908685"/>
            <a:ext cx="7552055" cy="35509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19250" y="4869180"/>
            <a:ext cx="482282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/>
              <a:t>Six figures and one Table</a:t>
            </a:r>
            <a:endParaRPr lang="x-none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2780665"/>
            <a:ext cx="8138795" cy="42119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85" y="2132965"/>
            <a:ext cx="6294755" cy="5562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60350"/>
            <a:ext cx="6096635" cy="1996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412875"/>
            <a:ext cx="8743950" cy="39547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771775" y="909320"/>
            <a:ext cx="482282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/>
              <a:t>Differenital Reaction when feediing glycerol </a:t>
            </a:r>
            <a:endParaRPr lang="x-none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020" y="332740"/>
            <a:ext cx="6426835" cy="5296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5156835"/>
            <a:ext cx="6508115" cy="929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95" y="5949315"/>
            <a:ext cx="6431915" cy="81534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79705" y="44450"/>
            <a:ext cx="482282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/>
              <a:t>Differenital Reaction when feediing </a:t>
            </a:r>
            <a:r>
              <a:rPr lang="x-none" altLang="en-US">
                <a:solidFill>
                  <a:srgbClr val="0000FF"/>
                </a:solidFill>
              </a:rPr>
              <a:t>Glycerol </a:t>
            </a:r>
            <a:endParaRPr lang="x-none" altLang="en-US">
              <a:solidFill>
                <a:srgbClr val="0000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" y="2060575"/>
            <a:ext cx="2876550" cy="942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79705" y="44450"/>
            <a:ext cx="4822825" cy="657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/>
              <a:t>Differenital Reaction when feediing </a:t>
            </a:r>
            <a:r>
              <a:rPr lang="x-none" altLang="en-US">
                <a:solidFill>
                  <a:srgbClr val="0000FF"/>
                </a:solidFill>
              </a:rPr>
              <a:t>Oxygenates and Acrolein </a:t>
            </a:r>
            <a:endParaRPr lang="x-none" altLang="en-US">
              <a:solidFill>
                <a:srgbClr val="0000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920" y="404495"/>
            <a:ext cx="6223000" cy="5029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5373370"/>
            <a:ext cx="6340475" cy="792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6021070"/>
            <a:ext cx="6965315" cy="838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15" y="2276475"/>
            <a:ext cx="2890520" cy="11061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3789045"/>
            <a:ext cx="2154555" cy="14859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15" y="980440"/>
            <a:ext cx="3050540" cy="998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79705" y="116840"/>
            <a:ext cx="482282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/>
              <a:t>n3=n2=2, then what is</a:t>
            </a:r>
            <a:r>
              <a:rPr lang="x-none" altLang="en-US">
                <a:solidFill>
                  <a:srgbClr val="0000FF"/>
                </a:solidFill>
              </a:rPr>
              <a:t> n4 ?</a:t>
            </a:r>
            <a:endParaRPr lang="x-none" altLang="en-US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692785"/>
            <a:ext cx="4602480" cy="5753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41120"/>
            <a:ext cx="4685030" cy="11753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" y="2637155"/>
            <a:ext cx="4721860" cy="12992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05" y="4220845"/>
            <a:ext cx="4382770" cy="15506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600" y="1772285"/>
            <a:ext cx="2994660" cy="2065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79705" y="116840"/>
            <a:ext cx="482282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/>
              <a:t>n3=n2=2, then what is</a:t>
            </a:r>
            <a:r>
              <a:rPr lang="x-none" altLang="en-US">
                <a:solidFill>
                  <a:srgbClr val="0000FF"/>
                </a:solidFill>
              </a:rPr>
              <a:t> n4 ?</a:t>
            </a:r>
            <a:endParaRPr lang="x-none" altLang="en-US">
              <a:solidFill>
                <a:srgbClr val="0000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76250"/>
            <a:ext cx="6942455" cy="990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1700530"/>
            <a:ext cx="8183880" cy="518287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71550" y="1412240"/>
            <a:ext cx="482282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/>
              <a:t>Eq. (15) is linear, then </a:t>
            </a:r>
            <a:endParaRPr lang="x-none" altLang="en-US">
              <a:solidFill>
                <a:srgbClr val="0000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20" y="1124585"/>
            <a:ext cx="4352925" cy="7537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052195"/>
            <a:ext cx="8188325" cy="2423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3716655"/>
            <a:ext cx="6096635" cy="1996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295" y="188595"/>
            <a:ext cx="5700395" cy="5868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" y="332740"/>
            <a:ext cx="6569075" cy="60128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Kingsoft Office WPP</Application>
  <PresentationFormat>On-screen Show (4:3)</PresentationFormat>
  <Paragraphs>14</Paragraphs>
  <Slides>10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ChE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Universal Procedure for Crude Glycerol Purification from Different Feedstocks in Biodiesel Production:</dc:title>
  <dc:creator>Sky123.Org</dc:creator>
  <cp:lastModifiedBy>yang</cp:lastModifiedBy>
  <cp:revision>1101</cp:revision>
  <dcterms:created xsi:type="dcterms:W3CDTF">2017-01-26T20:51:16Z</dcterms:created>
  <dcterms:modified xsi:type="dcterms:W3CDTF">2017-01-26T20:51:16Z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